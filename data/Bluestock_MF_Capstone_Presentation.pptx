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Equity</c:v>
                </c:pt>
                <c:pt idx="1">
                  <c:v>Debt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3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ICICI Liquid</c:v>
                </c:pt>
                <c:pt idx="1">
                  <c:v>Kotak Liquid</c:v>
                </c:pt>
                <c:pt idx="2">
                  <c:v>ABSL Liquid</c:v>
                </c:pt>
                <c:pt idx="3">
                  <c:v>HDFC Short Term</c:v>
                </c:pt>
                <c:pt idx="4">
                  <c:v>SBI Gilt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7.68</c:v>
                </c:pt>
                <c:pt idx="1">
                  <c:v>6.18</c:v>
                </c:pt>
                <c:pt idx="2">
                  <c:v>5.14</c:v>
                </c:pt>
                <c:pt idx="3">
                  <c:v>1.84</c:v>
                </c:pt>
                <c:pt idx="4">
                  <c:v>1.52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313391296"/>
        <c:axId val="-1313382048"/>
      </c:barChart>
      <c:catAx>
        <c:axId val="-13133912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-1313382048"/>
        <c:crosses val="autoZero"/>
        <c:auto val="1"/>
        <c:lblAlgn val="ctr"/>
        <c:lblOffset val="100"/>
        <c:noMultiLvlLbl val="1"/>
      </c:catAx>
      <c:valAx>
        <c:axId val="-1313382048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7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-1313391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745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931920"/>
            <a:ext cx="3840480" cy="384048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DATA ANALYST INTERNSHIP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Bluestock Mutual Fund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Capstone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ETL, SQL Database Design, Performance &amp; Risk Analytics, and a Power BI Dashboard for the Indian Mutual Fund Industry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4956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Review 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715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Kapish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Intern, Bluestock Fintech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ppt/icons/overvie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114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 real-world fintech analytics workflow: raw data to business-ready insight</a:t>
            </a:r>
            <a:endParaRPr lang="en-US" sz="1500" dirty="0"/>
          </a:p>
          <a:p>
            <a:pPr marL="342900" indent="-342900" algn="l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40 mutual fund schemes across 10 major Indian AMCs</a:t>
            </a:r>
            <a:endParaRPr lang="en-US" sz="1500" dirty="0"/>
          </a:p>
          <a:p>
            <a:pPr marL="342900" indent="-342900" algn="l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in Python, SQL (SQLite) and Power BI</a:t>
            </a:r>
            <a:endParaRPr lang="en-US" sz="1500" dirty="0"/>
          </a:p>
          <a:p>
            <a:pPr marL="342900" indent="-342900" algn="l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across 5 structured stages over the internship</a:t>
            </a:r>
            <a:endParaRPr lang="en-US" sz="1500" dirty="0"/>
          </a:p>
          <a:p>
            <a:pPr marL="342900" indent="-342900" algn="l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deliverable: an interactive Power BI dashboard for stakeholders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5074920"/>
            <a:ext cx="112471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539496" y="507492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627632" y="5074920"/>
            <a:ext cx="9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C"/>
                </a:solidFill>
              </a:rPr>
              <a:t>&gt;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19072" y="5074920"/>
            <a:ext cx="112471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1755648" y="507492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DB Design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843784" y="5074920"/>
            <a:ext cx="9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C"/>
                </a:solidFill>
              </a:rPr>
              <a:t>&gt;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935224" y="5074920"/>
            <a:ext cx="112471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2971800" y="507492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059936" y="5074920"/>
            <a:ext cx="9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C"/>
                </a:solidFill>
              </a:rPr>
              <a:t>&gt;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51376" y="5074920"/>
            <a:ext cx="112471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4187952" y="507492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276088" y="5074920"/>
            <a:ext cx="9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C"/>
                </a:solidFill>
              </a:rPr>
              <a:t>&gt;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367528" y="5074920"/>
            <a:ext cx="1124712" cy="566928"/>
          </a:xfrm>
          <a:prstGeom prst="roundRect">
            <a:avLst>
              <a:gd name="adj" fmla="val 9677"/>
            </a:avLst>
          </a:prstGeom>
          <a:solidFill>
            <a:srgbClr val="00A896"/>
          </a:solidFill>
          <a:ln/>
        </p:spPr>
      </p:sp>
      <p:sp>
        <p:nvSpPr>
          <p:cNvPr id="21" name="Text 18"/>
          <p:cNvSpPr/>
          <p:nvPr/>
        </p:nvSpPr>
        <p:spPr>
          <a:xfrm>
            <a:off x="5404104" y="507492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903720" y="141732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903720" y="1527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6995160" y="24505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Schemes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326880" y="141732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326880" y="1527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9418320" y="24505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Houses (AMCs)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903720" y="301752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903720" y="3127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46K+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6995160" y="4050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 Records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326880" y="301752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9326880" y="3127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32,778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9418320" y="4050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ppt/icons/objectiv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114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15453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validated mutual fund dataset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88720" y="192938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validate 10 raw datasets covering funds, NAV, AUM, SIP, transactions and holdings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4173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6002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49440" y="15453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relational database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949440" y="192938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data into a SQLite schema with dimension and fact tables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28803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5800" y="30632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88720" y="3008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SQL-driven business insights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88720" y="339242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analytical queries for AUM, returns, expense ratio and transaction patterns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63640" y="28803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46520" y="30632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64465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949440" y="3008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949440" y="339242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NAV trends, AUM growth, SIP inflows, demographics and correlation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43434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85800" y="45262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88720" y="4471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performance &amp; risk metrics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188720" y="485546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CAGR, Sharpe, Sortino, Alpha, Beta, Drawdown and a composite Fund Scorecard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63640" y="43434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446520" y="45262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0"/>
          <p:cNvSpPr/>
          <p:nvPr/>
        </p:nvSpPr>
        <p:spPr>
          <a:xfrm>
            <a:off x="64465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949440" y="4471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advanced risk &amp; behaviour analytics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6949440" y="485546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VaR/CVaR, cohort analysis, SIP continuity and a fund recommendation engine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ppt/icons/datas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114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6858000" cy="308610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  <a:gridCol w="1005840"/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Master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01_fund_master.csv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02_nav_history.csv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~46,000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 by Fund 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03_aum_by_fund_house.csv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Inflows / Category Inflows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04, 05_*.csv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07_scheme_performance.csv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08_investor_transactions.csv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Holdings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09_portfolio_holdings.csv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Indices (NIFTY50/100)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10_benchmark_indices.csv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35240" y="141732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81812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Split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680960" y="1783080"/>
          <a:ext cx="24688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5"/>
          <p:cNvSpPr/>
          <p:nvPr/>
        </p:nvSpPr>
        <p:spPr>
          <a:xfrm>
            <a:off x="7635240" y="3913632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781812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Fund Houses Covered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818120" y="43891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· HDFC · ICICI Prudential · Nippon India · Kotak Mahindra · Axis · Aditya Birla Sun Life · UTI · Mirae Asset · DSP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ppt/icons/et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114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3337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60804" y="18288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1860804" y="1828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01752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CSVs: fund master, NAV, AUM, transactions, holdings</a:t>
            </a:r>
            <a:endParaRPr lang="en-US" sz="1150" dirty="0"/>
          </a:p>
          <a:p>
            <a:pPr marL="342900" indent="-342900" algn="l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pulled via mfapi.in public API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895344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</a:rPr>
              <a:t>&gt;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297680" y="1600200"/>
            <a:ext cx="333756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55564" y="1828800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5655564" y="1828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48056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0" y="301752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casting, deduplication, null handling</a:t>
            </a:r>
            <a:endParaRPr lang="en-US" sz="1150" dirty="0"/>
          </a:p>
          <a:p>
            <a:pPr marL="342900" indent="-342900" algn="l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flags on expense ratio &amp; NAV; KYC &amp; type standardization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690104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</a:rPr>
              <a:t>&gt;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8092440" y="1600200"/>
            <a:ext cx="3337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450324" y="18288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9450324" y="1828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27532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66760" y="301752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CSVs loaded to SQLite via SQLAlchemy</a:t>
            </a:r>
            <a:endParaRPr lang="en-US" sz="1150" dirty="0"/>
          </a:p>
          <a:p>
            <a:pPr marL="342900" indent="-342900" algn="l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to_sql() into dim_fund &amp; 3 fact tables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02920" y="50292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nav_history_clean.csv · scheme_performance_clean.csv · investor_transactions_clean.csv · bluestock_mf.db · data_quality_report.txt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114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46304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database: bluestock_mf.db</a:t>
            </a:r>
            <a:endParaRPr lang="en-US" sz="1350" dirty="0"/>
          </a:p>
          <a:p>
            <a:pPr marL="342900" indent="-342900" algn="l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dimension table + 3 fact tables, joined on amfi_code</a:t>
            </a:r>
            <a:endParaRPr lang="en-US" sz="1350" dirty="0"/>
          </a:p>
          <a:p>
            <a:pPr marL="342900" indent="-342900" algn="l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via SQLAlchemy to_sql()</a:t>
            </a:r>
            <a:endParaRPr lang="en-US" sz="1350" dirty="0"/>
          </a:p>
          <a:p>
            <a:pPr marL="342900" indent="-342900" algn="l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fast, repeatable analytical querying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434340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445312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94360" y="487375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 rows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94560" y="434340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94560" y="445312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46K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286000" y="487375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 rows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141732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14904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dim_fund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amfi_code (PK) · scheme_name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fund_house · category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052560" y="2606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052560" y="2679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fact_nav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144000" y="2971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amfi_code · date · nav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778240" y="1847088"/>
            <a:ext cx="274320" cy="1216152"/>
          </a:xfrm>
          <a:prstGeom prst="line">
            <a:avLst/>
          </a:prstGeom>
          <a:noFill/>
          <a:ln w="15875">
            <a:solidFill>
              <a:srgbClr val="AEB9D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52560" y="3703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052560" y="3776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fact_transactions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144000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investor_id · amfi_code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txn_date · type · amount_inr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778240" y="1847088"/>
            <a:ext cx="274320" cy="2313432"/>
          </a:xfrm>
          <a:prstGeom prst="line">
            <a:avLst/>
          </a:prstGeom>
          <a:noFill/>
          <a:ln w="15875">
            <a:solidFill>
              <a:srgbClr val="AEB9D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52560" y="4892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052560" y="4965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fact_performance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144000" y="5257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amfi_code · return_1/3/5yr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expense_ratio_pct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778240" y="1847088"/>
            <a:ext cx="274320" cy="3502152"/>
          </a:xfrm>
          <a:prstGeom prst="line">
            <a:avLst/>
          </a:prstGeom>
          <a:noFill/>
          <a:ln w="15875">
            <a:solidFill>
              <a:srgbClr val="AEB9D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ppt/icons/ed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114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4160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trends analysed for top 10 schemes (2022-2026)</a:t>
            </a:r>
            <a:endParaRPr lang="en-US" sz="1300" dirty="0"/>
          </a:p>
          <a:p>
            <a:pPr marL="342900" indent="-342900" algn="l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by fund house: SBI Mutual Fund leads</a:t>
            </a:r>
            <a:endParaRPr lang="en-US" sz="1300" dirty="0"/>
          </a:p>
          <a:p>
            <a:pPr marL="342900" indent="-342900" algn="l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show consistent month-on-month growth</a:t>
            </a:r>
            <a:endParaRPr lang="en-US" sz="1300" dirty="0"/>
          </a:p>
          <a:p>
            <a:pPr marL="342900" indent="-342900" algn="l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contribute ~66% of transaction value</a:t>
            </a:r>
            <a:endParaRPr lang="en-US" sz="1300" dirty="0"/>
          </a:p>
          <a:p>
            <a:pPr marL="342900" indent="-342900" algn="l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 age group is the most active investor segment</a:t>
            </a:r>
            <a:endParaRPr lang="en-US" sz="1300" dirty="0"/>
          </a:p>
          <a:p>
            <a:pPr marL="342900" indent="-342900" algn="l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NAV correlation among equity peers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92040" y="1417320"/>
            <a:ext cx="3246120" cy="1783080"/>
          </a:xfrm>
          <a:prstGeom prst="roundRect">
            <a:avLst>
              <a:gd name="adj" fmla="val 3077"/>
            </a:avLst>
          </a:prstGeom>
          <a:solidFill>
            <a:srgbClr val="FBFCFE"/>
          </a:solidFill>
          <a:ln w="15875">
            <a:solidFill>
              <a:srgbClr val="AEB9D6"/>
            </a:solidFill>
            <a:prstDash val="dash"/>
          </a:ln>
        </p:spPr>
      </p:sp>
      <p:pic>
        <p:nvPicPr>
          <p:cNvPr id="8" name="Image 1" descr="/home/claude/ppt/icons/dashboar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32" y="1851660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22905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Daily NAV Trend (2022–2026)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366760" y="1417320"/>
            <a:ext cx="3246120" cy="1783080"/>
          </a:xfrm>
          <a:prstGeom prst="roundRect">
            <a:avLst>
              <a:gd name="adj" fmla="val 3077"/>
            </a:avLst>
          </a:prstGeom>
          <a:solidFill>
            <a:srgbClr val="FBFCFE"/>
          </a:solidFill>
          <a:ln w="15875">
            <a:solidFill>
              <a:srgbClr val="AEB9D6"/>
            </a:solidFill>
            <a:prstDash val="dash"/>
          </a:ln>
        </p:spPr>
      </p:sp>
      <p:pic>
        <p:nvPicPr>
          <p:cNvPr id="11" name="Image 2" descr="/home/claude/ppt/icons/dashboar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652" y="1851660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3920" y="22905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AUM by Fund House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892040" y="3429000"/>
            <a:ext cx="3246120" cy="1783080"/>
          </a:xfrm>
          <a:prstGeom prst="roundRect">
            <a:avLst>
              <a:gd name="adj" fmla="val 3077"/>
            </a:avLst>
          </a:prstGeom>
          <a:solidFill>
            <a:srgbClr val="FBFCFE"/>
          </a:solidFill>
          <a:ln w="15875">
            <a:solidFill>
              <a:srgbClr val="AEB9D6"/>
            </a:solidFill>
            <a:prstDash val="dash"/>
          </a:ln>
        </p:spPr>
      </p:sp>
      <p:pic>
        <p:nvPicPr>
          <p:cNvPr id="14" name="Image 3" descr="/home/claude/ppt/icons/dashboar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32" y="3863340"/>
            <a:ext cx="402336" cy="40233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29200" y="43022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Monthly SIP Inflow Trend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8366760" y="3429000"/>
            <a:ext cx="3246120" cy="1783080"/>
          </a:xfrm>
          <a:prstGeom prst="roundRect">
            <a:avLst>
              <a:gd name="adj" fmla="val 3077"/>
            </a:avLst>
          </a:prstGeom>
          <a:solidFill>
            <a:srgbClr val="FBFCFE"/>
          </a:solidFill>
          <a:ln w="15875">
            <a:solidFill>
              <a:srgbClr val="AEB9D6"/>
            </a:solidFill>
            <a:prstDash val="dash"/>
          </a:ln>
        </p:spPr>
      </p:sp>
      <p:pic>
        <p:nvPicPr>
          <p:cNvPr id="17" name="Image 4" descr="/home/claude/ppt/icons/dashboar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652" y="3863340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03920" y="43022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NAV Return Correlation Heatmap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EVALUATION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ppt/icons/performan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114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Analytics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394960" cy="2688336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Annualized compounded 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per unit of total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Sortino 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per unit of downside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/ Beta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 return &amp; market sensitivity vs. NIFTY100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peak-to-trough NAV decline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Scorecard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0–100 weighted rank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263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Sharpe Ratio — Top 5 Schemes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126480" y="1691640"/>
          <a:ext cx="55778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4"/>
          <p:cNvSpPr/>
          <p:nvPr/>
        </p:nvSpPr>
        <p:spPr>
          <a:xfrm>
            <a:off x="502920" y="4160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731520" y="431596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1-Yr Return: </a:t>
            </a: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  </a:t>
            </a: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Sharpe: </a:t>
            </a: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   </a:t>
            </a: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Expense Ratio: </a:t>
            </a: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1.24%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→ Return 30% · Sharpe 25% · Alpha 20% · Expense 15% · Drawdown 10%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NIFTY50 and NIFTY100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126480" y="4160520"/>
            <a:ext cx="5577840" cy="1463040"/>
          </a:xfrm>
          <a:prstGeom prst="roundRect">
            <a:avLst>
              <a:gd name="adj" fmla="val 3750"/>
            </a:avLst>
          </a:prstGeom>
          <a:solidFill>
            <a:srgbClr val="FBFCFE"/>
          </a:solidFill>
          <a:ln w="15875">
            <a:solidFill>
              <a:srgbClr val="AEB9D6"/>
            </a:solidFill>
            <a:prstDash val="dash"/>
          </a:ln>
        </p:spPr>
      </p:sp>
      <p:pic>
        <p:nvPicPr>
          <p:cNvPr id="12" name="Image 1" descr="/home/claude/ppt/icons/dashboar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4434840"/>
            <a:ext cx="402336" cy="4023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63640" y="48737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Top 5 Funds vs. NIFTY50/NIFTY100 (Normalized Performance)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BEHAVIOUR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ppt/icons/advance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114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ppt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9164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5636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&amp; CVaR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31520" y="21305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95% Value at Risk and Expected Shortfall per scheme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97680" y="141732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80560" y="1600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ppt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9164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83480" y="15636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Sharpe Ratio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26280" y="21305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rolling window, annualized, tracks risk-adjusted trend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92440" y="141732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75320" y="1600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ppt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69164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78240" y="15636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Cohort Analysis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321040" y="21305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first-investment year: avg SIP, total invested, top fund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02920" y="3264408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" y="34472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home/claude/ppt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38728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88720" y="3410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731520" y="3977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classified Healthy vs. At-Risk (avg. gap &gt; 35 days)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297680" y="3264408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480560" y="34472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/home/claude/ppt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538728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83480" y="3410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4526280" y="3977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top 3 funds by risk appetite &amp; Sharpe Ratio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092440" y="3264408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275320" y="34472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6" descr="/home/claude/ppt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538728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778240" y="3410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Concentration (HHI)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8321040" y="3977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Sector-weight concentration index for equity schemes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502920" y="51663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advanced-analytics outputs are exported to /reports for direct Power BI ingestion.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ppt/icons/dash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114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truth: SQLite DB + processed CSV reports</a:t>
            </a:r>
            <a:endParaRPr lang="en-US" sz="1250" dirty="0"/>
          </a:p>
          <a:p>
            <a:pPr marL="342900" indent="-342900" algn="l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fund house, category, risk grade, date range</a:t>
            </a:r>
            <a:endParaRPr lang="en-US" sz="1250" dirty="0"/>
          </a:p>
          <a:p>
            <a:pPr marL="342900" indent="-342900" algn="l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 enables stakeholder drill-down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24028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5875">
            <a:solidFill>
              <a:srgbClr val="AEB9D6"/>
            </a:solidFill>
            <a:prstDash val="dash"/>
          </a:ln>
        </p:spPr>
      </p:sp>
      <p:pic>
        <p:nvPicPr>
          <p:cNvPr id="8" name="Image 1" descr="/home/claude/ppt/icons/dashboar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092" y="2697480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13639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Screenshot: Fund Overview (AUM &amp; Category Split)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17920" y="224028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5875">
            <a:solidFill>
              <a:srgbClr val="AEB9D6"/>
            </a:solidFill>
            <a:prstDash val="dash"/>
          </a:ln>
        </p:spPr>
      </p:sp>
      <p:pic>
        <p:nvPicPr>
          <p:cNvPr id="11" name="Image 2" descr="/home/claude/ppt/icons/dashboar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092" y="2697480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55080" y="313639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Screenshot: Performance &amp; Fund Scorecard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02920" y="425196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5875">
            <a:solidFill>
              <a:srgbClr val="AEB9D6"/>
            </a:solidFill>
            <a:prstDash val="dash"/>
          </a:ln>
        </p:spPr>
      </p:sp>
      <p:pic>
        <p:nvPicPr>
          <p:cNvPr id="14" name="Image 3" descr="/home/claude/ppt/icons/dashboar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092" y="4709160"/>
            <a:ext cx="402336" cy="40233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0080" y="5148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Screenshot: Risk Analytics (VaR/CVaR, Drawdown)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217920" y="425196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5875">
            <a:solidFill>
              <a:srgbClr val="AEB9D6"/>
            </a:solidFill>
            <a:prstDash val="dash"/>
          </a:ln>
        </p:spPr>
      </p:sp>
      <p:pic>
        <p:nvPicPr>
          <p:cNvPr id="17" name="Image 4" descr="/home/claude/ppt/icons/dashboar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092" y="4709160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55080" y="5148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Screenshot: Investor Insights &amp; SIP Continuity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29" y="2286000"/>
            <a:ext cx="5425772" cy="182418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20" y="2188867"/>
            <a:ext cx="5513832" cy="203159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20" y="4306211"/>
            <a:ext cx="5513832" cy="1774549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1" y="4211331"/>
            <a:ext cx="5440680" cy="18327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ppt/icons/insigh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114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pic>
        <p:nvPicPr>
          <p:cNvPr id="7" name="Image 1" descr="/home/claude/ppt/icons/coin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276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Performance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21488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schemes: higher CAGR, higher drawdown risk</a:t>
            </a:r>
            <a:endParaRPr lang="en-US" sz="1250" dirty="0"/>
          </a:p>
          <a:p>
            <a:pPr marL="342900" indent="-342900" algn="l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Liquid/debt funds post the highest Sharpe ratios</a:t>
            </a:r>
            <a:endParaRPr lang="en-US" sz="1250" dirty="0"/>
          </a:p>
          <a:p>
            <a:pPr marL="342900" indent="-342900" algn="l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gives a holistic, multi-factor ranking</a:t>
            </a:r>
            <a:endParaRPr lang="en-US" sz="1250" dirty="0"/>
          </a:p>
          <a:p>
            <a:pPr marL="342900" indent="-342900" algn="l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Sharpe shows risk-adjusted rank shifts over time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72200" y="1417320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340">
                <a:alpha val="10000"/>
              </a:srgbClr>
            </a:outerShdw>
          </a:effectLst>
        </p:spPr>
      </p:sp>
      <p:pic>
        <p:nvPicPr>
          <p:cNvPr id="11" name="Image 2" descr="/home/claude/ppt/icons/user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27632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1228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Behaviour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446520" y="21488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transactions dominate (~60% of all transactions)</a:t>
            </a:r>
            <a:endParaRPr lang="en-US" sz="1250" dirty="0"/>
          </a:p>
          <a:p>
            <a:pPr marL="342900" indent="-342900" algn="l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26-35 is the most active investor segment</a:t>
            </a:r>
            <a:endParaRPr lang="en-US" sz="1250" dirty="0"/>
          </a:p>
          <a:p>
            <a:pPr marL="342900" indent="-342900" algn="l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drive ~66% of transaction value; B30 has headroom</a:t>
            </a:r>
            <a:endParaRPr lang="en-US" sz="1250" dirty="0"/>
          </a:p>
          <a:p>
            <a:pPr marL="342900" indent="-342900" algn="l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share of SIP investors are flagged ‘At-Risk’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657600"/>
            <a:ext cx="4114800" cy="41148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943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ppt/icons/conclus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74980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53035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1600200"/>
            <a:ext cx="9875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complete analytics lifecycle: raw data → ETL → SQL database → EDA → performance &amp; risk analytics → Power BI dashboard</a:t>
            </a:r>
            <a:endParaRPr lang="en-US" sz="1500" dirty="0"/>
          </a:p>
          <a:p>
            <a:pPr marL="342900" indent="-342900" algn="l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40 schemes, ~46,000 NAV records, and 32,778 investor transactions</a:t>
            </a:r>
            <a:endParaRPr lang="en-US" sz="1500" dirty="0"/>
          </a:p>
          <a:p>
            <a:pPr marL="342900" indent="-342900" algn="l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industry-standard financial metrics: CAGR, Sharpe, Sortino, Alpha/Beta, VaR/CVaR, HHI</a:t>
            </a:r>
            <a:endParaRPr lang="en-US" sz="1500" dirty="0"/>
          </a:p>
          <a:p>
            <a:pPr marL="342900" indent="-342900" algn="l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analysis into actionable insights on fund performance, investor retention and diversification</a:t>
            </a:r>
            <a:endParaRPr lang="en-US" sz="1500" dirty="0"/>
          </a:p>
          <a:p>
            <a:pPr marL="342900" indent="-342900" algn="l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practical skills in Python, SQL, financial analytics and Power BI — directly applicable to a Data Analyst role in fintech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5074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Kapish  ·  Data Analyst Intern  ·  Bluestock Fintech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1112</Words>
  <Application>Microsoft Office PowerPoint</Application>
  <PresentationFormat>Widescreen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Capstone</dc:title>
  <dc:subject>PptxGenJS Presentation</dc:subject>
  <dc:creator>Kapish</dc:creator>
  <cp:lastModifiedBy>DELL</cp:lastModifiedBy>
  <cp:revision>2</cp:revision>
  <dcterms:created xsi:type="dcterms:W3CDTF">2026-07-09T06:10:44Z</dcterms:created>
  <dcterms:modified xsi:type="dcterms:W3CDTF">2026-07-09T13:46:18Z</dcterms:modified>
</cp:coreProperties>
</file>